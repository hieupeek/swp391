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6" r:id="rId2"/>
    <p:sldId id="278" r:id="rId3"/>
    <p:sldId id="281" r:id="rId4"/>
    <p:sldId id="279" r:id="rId5"/>
    <p:sldId id="280" r:id="rId6"/>
    <p:sldId id="282" r:id="rId7"/>
    <p:sldId id="302" r:id="rId8"/>
    <p:sldId id="283" r:id="rId9"/>
    <p:sldId id="297" r:id="rId10"/>
    <p:sldId id="298" r:id="rId11"/>
    <p:sldId id="299" r:id="rId12"/>
    <p:sldId id="300" r:id="rId13"/>
    <p:sldId id="301" r:id="rId14"/>
    <p:sldId id="284" r:id="rId15"/>
    <p:sldId id="285" r:id="rId16"/>
    <p:sldId id="275" r:id="rId17"/>
    <p:sldId id="286" r:id="rId18"/>
    <p:sldId id="289" r:id="rId19"/>
    <p:sldId id="290" r:id="rId20"/>
    <p:sldId id="291" r:id="rId21"/>
    <p:sldId id="294" r:id="rId22"/>
    <p:sldId id="292" r:id="rId23"/>
    <p:sldId id="295" r:id="rId24"/>
    <p:sldId id="296" r:id="rId25"/>
    <p:sldId id="274" r:id="rId26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0099"/>
    <a:srgbClr val="76D6FF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08"/>
    <p:restoredTop sz="83131" autoAdjust="0"/>
  </p:normalViewPr>
  <p:slideViewPr>
    <p:cSldViewPr>
      <p:cViewPr varScale="1">
        <p:scale>
          <a:sx n="80" d="100"/>
          <a:sy n="80" d="100"/>
        </p:scale>
        <p:origin x="1810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2" d="100"/>
          <a:sy n="82" d="100"/>
        </p:scale>
        <p:origin x="3872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8" y="0"/>
            <a:ext cx="3169920" cy="48006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7337DF-DDE6-4329-B991-8949DA4C999F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3"/>
            <a:ext cx="3169920" cy="4800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8" y="9119473"/>
            <a:ext cx="3169920" cy="4800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A0BA0E-BC4D-4CA7-A044-7582170402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8" y="0"/>
            <a:ext cx="3169920" cy="48006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794E18-8E48-4968-8FD9-0351CFA90743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1" y="4560570"/>
            <a:ext cx="5852160" cy="432054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3"/>
            <a:ext cx="3169920" cy="4800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8" y="9119473"/>
            <a:ext cx="3169920" cy="4800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AE0073-C388-4BBC-94F1-A3FD064D5EAA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AE0073-C388-4BBC-94F1-A3FD064D5EAA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57922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</p:spPr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An: add “file7_line2” và push trước</a:t>
            </a:r>
          </a:p>
          <a:p>
            <a:r>
              <a:rPr lang="en-US"/>
              <a:t>Bình: add “file7_line3” và push sau, khi đó gặp xung đột code và cần phải xử lý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1_To Do: </a:t>
            </a:r>
            <a:r>
              <a:rPr lang="vi-VN" dirty="0"/>
              <a:t>Công việc hoặc vấn đề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quyết</a:t>
            </a:r>
            <a:endParaRPr lang="en-US" dirty="0"/>
          </a:p>
          <a:p>
            <a:r>
              <a:rPr lang="en-US" dirty="0"/>
              <a:t>2_Doing: </a:t>
            </a:r>
            <a:r>
              <a:rPr lang="vi-VN" dirty="0"/>
              <a:t>Công việc hoặc vấn đề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quyết</a:t>
            </a:r>
            <a:endParaRPr lang="en-US" dirty="0"/>
          </a:p>
          <a:p>
            <a:r>
              <a:rPr lang="en-US" dirty="0"/>
              <a:t>3_Done: </a:t>
            </a:r>
            <a:r>
              <a:rPr lang="vi-VN" dirty="0"/>
              <a:t>Công việc hoặc vấn đề đã được giải quyết, cần kiểm tra lại để đóng (Closed)</a:t>
            </a:r>
            <a:endParaRPr lang="en-US" dirty="0"/>
          </a:p>
          <a:p>
            <a:r>
              <a:rPr lang="en-US" dirty="0"/>
              <a:t>Defect: </a:t>
            </a:r>
            <a:r>
              <a:rPr lang="en-US" dirty="0" err="1"/>
              <a:t>Lỗi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source codes do </a:t>
            </a:r>
            <a:r>
              <a:rPr lang="en-US" dirty="0" err="1"/>
              <a:t>đội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được</a:t>
            </a:r>
            <a:endParaRPr lang="en-US" dirty="0"/>
          </a:p>
          <a:p>
            <a:r>
              <a:rPr lang="en-US" dirty="0"/>
              <a:t>Leakage: </a:t>
            </a:r>
            <a:r>
              <a:rPr lang="en-US" dirty="0" err="1"/>
              <a:t>Lỗi</a:t>
            </a:r>
            <a:r>
              <a:rPr lang="en-US" dirty="0"/>
              <a:t> do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/</a:t>
            </a:r>
            <a:r>
              <a:rPr lang="en-US" dirty="0" err="1"/>
              <a:t>giáo</a:t>
            </a:r>
            <a:r>
              <a:rPr lang="en-US" dirty="0"/>
              <a:t> </a:t>
            </a:r>
            <a:r>
              <a:rPr lang="en-US" dirty="0" err="1"/>
              <a:t>viện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được </a:t>
            </a:r>
            <a:r>
              <a:rPr lang="en-US" dirty="0" err="1"/>
              <a:t>thông</a:t>
            </a:r>
            <a:r>
              <a:rPr lang="en-US" dirty="0"/>
              <a:t> qua review, test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submit</a:t>
            </a:r>
          </a:p>
          <a:p>
            <a:r>
              <a:rPr lang="en-US" dirty="0"/>
              <a:t>Q&amp;A: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hỏi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rõ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nhận</a:t>
            </a:r>
            <a:endParaRPr lang="en-US" dirty="0"/>
          </a:p>
          <a:p>
            <a:r>
              <a:rPr lang="en-US" dirty="0"/>
              <a:t>Req: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quyết</a:t>
            </a:r>
            <a:r>
              <a:rPr lang="en-US" dirty="0"/>
              <a:t>,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màn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1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phụ</a:t>
            </a:r>
            <a:r>
              <a:rPr lang="en-US" dirty="0"/>
              <a:t> </a:t>
            </a:r>
            <a:r>
              <a:rPr lang="en-US" dirty="0" err="1"/>
              <a:t>trách</a:t>
            </a:r>
            <a:r>
              <a:rPr lang="en-US" dirty="0"/>
              <a:t> </a:t>
            </a:r>
            <a:r>
              <a:rPr lang="en-US" dirty="0" err="1"/>
              <a:t>trọn</a:t>
            </a:r>
            <a:r>
              <a:rPr lang="en-US" dirty="0"/>
              <a:t> </a:t>
            </a:r>
            <a:r>
              <a:rPr lang="en-US" dirty="0" err="1"/>
              <a:t>vẹn</a:t>
            </a:r>
            <a:endParaRPr lang="en-US" dirty="0"/>
          </a:p>
          <a:p>
            <a:r>
              <a:rPr lang="en-US" dirty="0"/>
              <a:t>Task: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duy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(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tạo task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mình</a:t>
            </a:r>
            <a:r>
              <a:rPr lang="en-US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AE0073-C388-4BBC-94F1-A3FD064D5EAA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61213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1700808"/>
            <a:ext cx="7772400" cy="794519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4000" b="1" cap="all" baseline="0" dirty="0" smtClean="0">
                <a:solidFill>
                  <a:srgbClr val="DC0081"/>
                </a:solidFill>
              </a:defRPr>
            </a:lvl1pPr>
          </a:lstStyle>
          <a:p>
            <a:pPr marL="0" lvl="0" indent="0" fontAlgn="auto">
              <a:spcAft>
                <a:spcPts val="0"/>
              </a:spcAft>
            </a:pPr>
            <a:r>
              <a:rPr lang="en-US" dirty="0"/>
              <a:t>Click to edit Master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2495327"/>
            <a:ext cx="7776864" cy="622920"/>
          </a:xfrm>
        </p:spPr>
        <p:txBody>
          <a:bodyPr vert="horz" lIns="91440" tIns="45720" rIns="91440" bIns="45720" rtlCol="0">
            <a:normAutofit/>
          </a:bodyPr>
          <a:lstStyle>
            <a:lvl1pPr algn="ctr">
              <a:defRPr lang="en-GB" sz="3400" b="1" i="1" baseline="0" dirty="0" smtClean="0">
                <a:solidFill>
                  <a:srgbClr val="280099"/>
                </a:solidFill>
              </a:defRPr>
            </a:lvl1pPr>
          </a:lstStyle>
          <a:p>
            <a:pPr marL="0" lvl="0" indent="0" algn="ctr" fontAlgn="auto"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170DD-C861-476F-B7D8-5341A2B4ECC3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74D9D-2B93-4224-B077-96C9625F4AFD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1822" y="0"/>
            <a:ext cx="6764977" cy="822722"/>
          </a:xfr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lang="en-GB" sz="3600" b="1" kern="1200" dirty="0">
                <a:solidFill>
                  <a:srgbClr val="0070C0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r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76313"/>
            <a:ext cx="8229600" cy="5402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0" name="Line 1057"/>
          <p:cNvSpPr>
            <a:spLocks noChangeShapeType="1"/>
          </p:cNvSpPr>
          <p:nvPr userDrawn="1"/>
        </p:nvSpPr>
        <p:spPr bwMode="auto">
          <a:xfrm flipV="1">
            <a:off x="457200" y="822722"/>
            <a:ext cx="8229600" cy="1578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2670" y="16771"/>
            <a:ext cx="1449153" cy="790170"/>
          </a:xfrm>
          <a:prstGeom prst="rect">
            <a:avLst/>
          </a:prstGeom>
        </p:spPr>
      </p:pic>
      <p:sp>
        <p:nvSpPr>
          <p:cNvPr id="11" name="Rectangle 1056"/>
          <p:cNvSpPr>
            <a:spLocks noChangeArrowheads="1"/>
          </p:cNvSpPr>
          <p:nvPr userDrawn="1"/>
        </p:nvSpPr>
        <p:spPr bwMode="auto">
          <a:xfrm>
            <a:off x="444243" y="6496883"/>
            <a:ext cx="874439" cy="361117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D0EEE225-A7BC-457B-9273-D4D41378CEAC}" type="slidenum">
              <a:rPr lang="en-US" sz="1400" b="1" smtClean="0">
                <a:solidFill>
                  <a:srgbClr val="0070C0"/>
                </a:solidFill>
                <a:latin typeface="+mj-lt"/>
                <a:cs typeface="Arial" panose="020B0604020202090204" pitchFamily="34" charset="0"/>
              </a:rPr>
              <a:t>‹#›</a:t>
            </a:fld>
            <a:r>
              <a:rPr lang="en-US" sz="1400" b="1" dirty="0">
                <a:solidFill>
                  <a:srgbClr val="0070C0"/>
                </a:solidFill>
                <a:latin typeface="+mj-lt"/>
                <a:cs typeface="Arial" panose="020B0604020202090204" pitchFamily="34" charset="0"/>
              </a:rPr>
              <a:t> / 19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444243" y="6496883"/>
            <a:ext cx="87443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170DD-C861-476F-B7D8-5341A2B4ECC3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74D9D-2B93-4224-B077-96C9625F4AFD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0170DD-C861-476F-B7D8-5341A2B4ECC3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F74D9D-2B93-4224-B077-96C9625F4AFD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rgbClr val="280099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rgbClr val="280099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rgbClr val="280099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rgbClr val="280099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rgbClr val="280099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mailtrap.io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lab.com/fuhn/kien/java-utils.git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467544" y="2708920"/>
            <a:ext cx="8382000" cy="827171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Software Development Project (SWP391)</a:t>
            </a:r>
          </a:p>
        </p:txBody>
      </p:sp>
      <p:sp>
        <p:nvSpPr>
          <p:cNvPr id="12" name="Subtitle 2"/>
          <p:cNvSpPr txBox="1"/>
          <p:nvPr/>
        </p:nvSpPr>
        <p:spPr>
          <a:xfrm>
            <a:off x="1331640" y="3536091"/>
            <a:ext cx="7056785" cy="1117045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Char char="§"/>
              <a:defRPr lang="en-US" sz="3200" kern="1200" baseline="0" dirty="0" smtClean="0">
                <a:solidFill>
                  <a:srgbClr val="2800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lang="en-US" sz="2800" kern="1200" baseline="0" dirty="0" smtClean="0">
                <a:solidFill>
                  <a:srgbClr val="280099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Calibri" pitchFamily="34" charset="0"/>
              <a:buChar char="+"/>
              <a:defRPr lang="en-US" sz="2400" kern="1200" baseline="0" dirty="0" smtClean="0">
                <a:solidFill>
                  <a:srgbClr val="280099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»"/>
              <a:defRPr lang="en-US" sz="2000" kern="1200" baseline="0" dirty="0" smtClean="0">
                <a:solidFill>
                  <a:srgbClr val="280099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lang="en-US" sz="2000" kern="1200" baseline="0" dirty="0" smtClean="0">
                <a:solidFill>
                  <a:srgbClr val="280099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Aft>
                <a:spcPts val="0"/>
              </a:spcAft>
              <a:buNone/>
            </a:pPr>
            <a:r>
              <a:rPr lang="en-US" sz="2800" b="1" i="1" cap="all" dirty="0">
                <a:solidFill>
                  <a:srgbClr val="0070C0"/>
                </a:solidFill>
              </a:rPr>
              <a:t>STUDENT Guides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840" y="369158"/>
            <a:ext cx="2512194" cy="13698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887DA-8FD2-E05D-94F5-B45FE7316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ABCE4-E43F-349C-342D-AA73BCC80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881688"/>
          </a:xfrm>
        </p:spPr>
        <p:txBody>
          <a:bodyPr>
            <a:normAutofit fontScale="92500" lnSpcReduction="20000"/>
          </a:bodyPr>
          <a:lstStyle/>
          <a:p>
            <a:r>
              <a:rPr lang="en-GB" sz="24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Target</a:t>
            </a:r>
            <a:r>
              <a:rPr lang="en-GB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students to work in teams, to complete a specific </a:t>
            </a:r>
            <a:r>
              <a:rPr lang="en-GB" sz="2400" b="1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software Web system </a:t>
            </a:r>
            <a:r>
              <a:rPr lang="en-GB" sz="2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(recommend to be a management system)</a:t>
            </a:r>
          </a:p>
          <a:p>
            <a:pPr lvl="1"/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Team: 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4-5 students/teams, as assigned or arranged by the teacher</a:t>
            </a: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Product topic &amp; scope: 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 provided/agreed with the teacher.</a:t>
            </a:r>
          </a:p>
          <a:p>
            <a:pPr lvl="1"/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Process/software development scope: requirement analysing, designing, coding, and integrating.</a:t>
            </a:r>
          </a:p>
          <a:p>
            <a:r>
              <a:rPr lang="en-GB" sz="2400" b="1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Tools &amp; Technologies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320675" indent="0">
              <a:buNone/>
            </a:pPr>
            <a:r>
              <a:rPr lang="en-GB" sz="1800" b="1" i="1" dirty="0"/>
              <a:t>Sources &amp; Task/Issue Management</a:t>
            </a:r>
            <a:r>
              <a:rPr lang="en-GB" sz="1800" dirty="0"/>
              <a:t>: </a:t>
            </a:r>
            <a:r>
              <a:rPr lang="en-GB" sz="1800" b="0" i="0" dirty="0">
                <a:effectLst/>
              </a:rPr>
              <a:t>GitLab, login with FPT email account, </a:t>
            </a:r>
          </a:p>
          <a:p>
            <a:pPr marL="320675" indent="0">
              <a:buNone/>
            </a:pPr>
            <a:r>
              <a:rPr lang="en-GB" sz="1800" b="1" i="1" dirty="0"/>
              <a:t>Document/Files Management</a:t>
            </a:r>
            <a:r>
              <a:rPr lang="en-GB" sz="1800" dirty="0"/>
              <a:t>: </a:t>
            </a:r>
            <a:r>
              <a:rPr lang="en-GB" sz="1800" b="0" i="0" dirty="0">
                <a:effectLst/>
              </a:rPr>
              <a:t>OneDrive, login with the FPT email account</a:t>
            </a:r>
          </a:p>
          <a:p>
            <a:pPr marL="320675" indent="0">
              <a:buNone/>
            </a:pPr>
            <a:r>
              <a:rPr lang="en-GB" sz="1800" b="1" i="1" dirty="0"/>
              <a:t>Student/Teacher communication</a:t>
            </a:r>
            <a:r>
              <a:rPr lang="en-GB" sz="1800" dirty="0"/>
              <a:t>: Slack, login with the FPT account</a:t>
            </a:r>
          </a:p>
          <a:p>
            <a:pPr marL="320675" indent="0">
              <a:buNone/>
            </a:pPr>
            <a:r>
              <a:rPr lang="en-GB" sz="1800" b="1" i="1" dirty="0"/>
              <a:t>Mailing Tool</a:t>
            </a:r>
            <a:r>
              <a:rPr lang="en-GB" sz="1800" dirty="0"/>
              <a:t>: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integrate with the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MailTrap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https://mailtrap.io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endParaRPr lang="en-GB" sz="1800" dirty="0"/>
          </a:p>
          <a:p>
            <a:pPr marL="320675" indent="0">
              <a:buNone/>
            </a:pPr>
            <a:r>
              <a:rPr lang="en-GB" sz="1800" b="1" i="1" dirty="0"/>
              <a:t>Development techniques &amp; environment</a:t>
            </a:r>
            <a:r>
              <a:rPr lang="en-GB" sz="1800" dirty="0"/>
              <a:t>: choose Java or .NET technologies (with the technical framework &amp; DBMS as assigned/agreed by the teacher)</a:t>
            </a:r>
          </a:p>
          <a:p>
            <a:pPr marL="358775" lvl="1" indent="0">
              <a:buNone/>
            </a:pPr>
            <a:r>
              <a:rPr lang="en-GB" sz="1800" u="sng" dirty="0">
                <a:effectLst/>
              </a:rPr>
              <a:t>For Java project</a:t>
            </a:r>
          </a:p>
          <a:p>
            <a:pPr marL="358775" lvl="1" indent="0">
              <a:buNone/>
            </a:pPr>
            <a:r>
              <a:rPr lang="en-GB" sz="1800" b="1" dirty="0">
                <a:highlight>
                  <a:srgbClr val="FFFF00"/>
                </a:highlight>
              </a:rPr>
              <a:t>Java servlet   (</a:t>
            </a:r>
            <a:r>
              <a:rPr lang="en-GB" sz="1800" b="1" dirty="0" err="1">
                <a:highlight>
                  <a:srgbClr val="FFFF00"/>
                </a:highlight>
              </a:rPr>
              <a:t>Không</a:t>
            </a:r>
            <a:r>
              <a:rPr lang="en-GB" sz="1800" b="1" dirty="0">
                <a:highlight>
                  <a:srgbClr val="FFFF00"/>
                </a:highlight>
              </a:rPr>
              <a:t> </a:t>
            </a:r>
            <a:r>
              <a:rPr lang="en-GB" sz="1800" b="1" dirty="0" err="1">
                <a:highlight>
                  <a:srgbClr val="FFFF00"/>
                </a:highlight>
              </a:rPr>
              <a:t>dùng</a:t>
            </a:r>
            <a:r>
              <a:rPr lang="en-GB" sz="1800" b="1" dirty="0">
                <a:highlight>
                  <a:srgbClr val="FFFF00"/>
                </a:highlight>
              </a:rPr>
              <a:t> framework)</a:t>
            </a:r>
            <a:br>
              <a:rPr lang="en-GB" sz="1800" b="1" dirty="0">
                <a:highlight>
                  <a:srgbClr val="FFFF00"/>
                </a:highlight>
              </a:rPr>
            </a:br>
            <a:r>
              <a:rPr lang="en-GB" sz="1800" b="1" i="0" dirty="0">
                <a:effectLst/>
                <a:highlight>
                  <a:srgbClr val="FFFF00"/>
                </a:highlight>
              </a:rPr>
              <a:t>• Java JDK version 1.6 or higher, NetBeans 13</a:t>
            </a:r>
            <a:br>
              <a:rPr lang="en-GB" sz="1800" b="1" dirty="0">
                <a:highlight>
                  <a:srgbClr val="FFFF00"/>
                </a:highlight>
              </a:rPr>
            </a:br>
            <a:r>
              <a:rPr lang="en-GB" sz="1800" b="1" i="0" dirty="0">
                <a:effectLst/>
                <a:highlight>
                  <a:srgbClr val="FFFF00"/>
                </a:highlight>
              </a:rPr>
              <a:t>• Recommended DBMS: MySQL Server (v8.0.23 or higher), MySQL Workbench;</a:t>
            </a:r>
          </a:p>
          <a:p>
            <a:pPr marL="358775" lvl="1" indent="0">
              <a:buNone/>
            </a:pPr>
            <a:br>
              <a:rPr lang="en-GB" sz="1100" dirty="0"/>
            </a:br>
            <a:r>
              <a:rPr lang="en-GB" sz="1800" u="sng" dirty="0">
                <a:effectLst/>
              </a:rPr>
              <a:t>For .NET project</a:t>
            </a:r>
            <a:r>
              <a:rPr lang="en-GB" sz="1800" dirty="0">
                <a:effectLst/>
              </a:rPr>
              <a:t> (not recommended)</a:t>
            </a:r>
            <a:br>
              <a:rPr lang="en-GB" sz="1800" dirty="0"/>
            </a:br>
            <a:r>
              <a:rPr lang="en-GB" sz="1800" b="0" i="0" dirty="0">
                <a:effectLst/>
              </a:rPr>
              <a:t>• Microsoft Visual Studio version 2015 or higher</a:t>
            </a:r>
            <a:endParaRPr lang="en-GB" sz="1800" dirty="0"/>
          </a:p>
          <a:p>
            <a:pPr marL="358775" lvl="1" indent="0">
              <a:buNone/>
            </a:pPr>
            <a:r>
              <a:rPr lang="en-GB" sz="1800" b="0" i="0" dirty="0">
                <a:effectLst/>
              </a:rPr>
              <a:t>• Microsoft Internet Information Services server (come with Microsoft Windows)</a:t>
            </a:r>
            <a:br>
              <a:rPr lang="en-GB" sz="1800" dirty="0"/>
            </a:br>
            <a:r>
              <a:rPr lang="en-GB" sz="1800" b="0" i="0" dirty="0">
                <a:effectLst/>
              </a:rPr>
              <a:t>• Recommended DBMS: Microsoft SQL Server version 2014 or higher (Express version)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150348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E830E-B384-EAFE-FE59-B31199BE1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Inputs &amp;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1CCB2-A991-8D21-0E8F-E32A459D9F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76312"/>
            <a:ext cx="8229600" cy="5881688"/>
          </a:xfrm>
        </p:spPr>
        <p:txBody>
          <a:bodyPr>
            <a:normAutofit/>
          </a:bodyPr>
          <a:lstStyle/>
          <a:p>
            <a:r>
              <a:rPr lang="en-US" sz="2800" dirty="0"/>
              <a:t>Templates &amp; guides: the latest ones as in classroom</a:t>
            </a:r>
          </a:p>
          <a:p>
            <a:r>
              <a:rPr lang="en-US" sz="2800" dirty="0"/>
              <a:t>Project requirement documents, as prepared /provided by the guiding teacher or as proposed by the student team with agreement and/or adjustment from the teacher</a:t>
            </a:r>
          </a:p>
          <a:p>
            <a:pPr lvl="1"/>
            <a:r>
              <a:rPr lang="en-US" sz="2400" dirty="0"/>
              <a:t>Acceptable product size: there are enough functions or screens so that each team member can have 3-4 different screens/functions to implement in each iteration (including the iteration 3)</a:t>
            </a:r>
          </a:p>
          <a:p>
            <a:pPr lvl="1" algn="just"/>
            <a:r>
              <a:rPr lang="en-US" sz="2400" dirty="0"/>
              <a:t>Input requirement: to be agreed/assigned by the teacher</a:t>
            </a:r>
          </a:p>
          <a:p>
            <a:pPr lvl="1" algn="just"/>
            <a:r>
              <a:rPr lang="en-US" sz="2400" dirty="0"/>
              <a:t>Refs: CMS (SWP391 General Information)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69821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3965C-16E1-2D41-385B-D8D6898F8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Milestones &amp; Evaluations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83876FB4-0E49-3CDE-D987-E418E7D561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1339736"/>
              </p:ext>
            </p:extLst>
          </p:nvPr>
        </p:nvGraphicFramePr>
        <p:xfrm>
          <a:off x="457200" y="976313"/>
          <a:ext cx="8229600" cy="272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653">
                  <a:extLst>
                    <a:ext uri="{9D8B030D-6E8A-4147-A177-3AD203B41FA5}">
                      <a16:colId xmlns:a16="http://schemas.microsoft.com/office/drawing/2014/main" val="9881905"/>
                    </a:ext>
                  </a:extLst>
                </a:gridCol>
                <a:gridCol w="1285867">
                  <a:extLst>
                    <a:ext uri="{9D8B030D-6E8A-4147-A177-3AD203B41FA5}">
                      <a16:colId xmlns:a16="http://schemas.microsoft.com/office/drawing/2014/main" val="1456189309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1840122919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1004680465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550943381"/>
                    </a:ext>
                  </a:extLst>
                </a:gridCol>
                <a:gridCol w="3394720">
                  <a:extLst>
                    <a:ext uri="{9D8B030D-6E8A-4147-A177-3AD203B41FA5}">
                      <a16:colId xmlns:a16="http://schemas.microsoft.com/office/drawing/2014/main" val="30212888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Duration</a:t>
                      </a:r>
                    </a:p>
                    <a:p>
                      <a:pPr algn="ctr"/>
                      <a:r>
                        <a:rPr lang="en-US" sz="1600" dirty="0"/>
                        <a:t>(#slot 135’)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Duration</a:t>
                      </a:r>
                    </a:p>
                    <a:p>
                      <a:pPr algn="ctr"/>
                      <a:r>
                        <a:rPr lang="en-US" sz="1600" dirty="0"/>
                        <a:t>(#slot 90’)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Eval 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Notes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7850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Iteration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Assessment 1 (Week3)Milestone 1: Requirement Analysis &amp; Design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5336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Iteration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5441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Iteration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4072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Final Presentation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Final presentation with the with the joining of 2 teachers as evaluators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1971015"/>
                  </a:ext>
                </a:extLst>
              </a:tr>
            </a:tbl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979F140-6006-40BD-A625-E9ECBAA8E4F0}"/>
              </a:ext>
            </a:extLst>
          </p:cNvPr>
          <p:cNvSpPr txBox="1">
            <a:spLocks/>
          </p:cNvSpPr>
          <p:nvPr/>
        </p:nvSpPr>
        <p:spPr>
          <a:xfrm>
            <a:off x="457199" y="4005064"/>
            <a:ext cx="8229600" cy="237626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3200" kern="1200">
                <a:solidFill>
                  <a:srgbClr val="2800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800" kern="1200">
                <a:solidFill>
                  <a:srgbClr val="280099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400" kern="1200">
                <a:solidFill>
                  <a:srgbClr val="280099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000" kern="1200">
                <a:solidFill>
                  <a:srgbClr val="280099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»"/>
              <a:defRPr sz="2000" kern="1200">
                <a:solidFill>
                  <a:srgbClr val="280099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/>
              <a:t>To pass the subject, student needs to have</a:t>
            </a:r>
          </a:p>
          <a:p>
            <a:pPr lvl="1"/>
            <a:r>
              <a:rPr lang="en-US" sz="2400" dirty="0"/>
              <a:t>Present &gt;=80% of training slots</a:t>
            </a:r>
          </a:p>
          <a:p>
            <a:pPr lvl="1"/>
            <a:r>
              <a:rPr lang="en-US" sz="2400" dirty="0"/>
              <a:t>OG Grade &gt;= 5/10; </a:t>
            </a:r>
          </a:p>
          <a:p>
            <a:pPr marL="457200" lvl="1" indent="0">
              <a:buNone/>
            </a:pPr>
            <a:r>
              <a:rPr lang="en-US" sz="2400" dirty="0"/>
              <a:t>     OG Grade=(iter1*15% + iter2*20%+ iter3*25%] / 60%</a:t>
            </a:r>
          </a:p>
          <a:p>
            <a:pPr lvl="1"/>
            <a:r>
              <a:rPr lang="en-US" sz="2400" dirty="0"/>
              <a:t>Final Presentation Grade &gt;= 5/10; evaluate the iter3 results</a:t>
            </a:r>
          </a:p>
          <a:p>
            <a:pPr lvl="1"/>
            <a:r>
              <a:rPr lang="en-US" sz="2400" dirty="0"/>
              <a:t>No cheating found</a:t>
            </a:r>
          </a:p>
          <a:p>
            <a:pPr lvl="1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32048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2C470-A94B-F15E-6A2D-74D2070D0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Milestones &amp; Evaluations</a:t>
            </a:r>
            <a:br>
              <a:rPr lang="en-US" dirty="0"/>
            </a:br>
            <a:r>
              <a:rPr lang="en-US" sz="3100" i="1" dirty="0"/>
              <a:t>Main student &amp; teacher tasks</a:t>
            </a:r>
            <a:endParaRPr lang="en-US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5E833-DF4E-084F-05F8-EFFCE3E43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76312"/>
            <a:ext cx="8229600" cy="57650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i="1" dirty="0"/>
              <a:t>The teacher</a:t>
            </a:r>
            <a:r>
              <a:rPr lang="en-US" sz="1800" dirty="0"/>
              <a:t>:</a:t>
            </a:r>
          </a:p>
          <a:p>
            <a:r>
              <a:rPr lang="en-US" sz="1800" dirty="0"/>
              <a:t>The teacher is acting as both the coach/mentor and the customer/PO for the student teams: the final point to confirm/clarify team’s requirements </a:t>
            </a:r>
          </a:p>
          <a:p>
            <a:r>
              <a:rPr lang="en-US" sz="1800" dirty="0"/>
              <a:t>In the initiation stage, the teacher would</a:t>
            </a:r>
          </a:p>
          <a:p>
            <a:pPr lvl="1"/>
            <a:r>
              <a:rPr lang="en-US" sz="1400" dirty="0"/>
              <a:t>Introduce the subject, arrange the student teams, assign/verify the input requirements</a:t>
            </a:r>
          </a:p>
          <a:p>
            <a:pPr lvl="1"/>
            <a:r>
              <a:rPr lang="en-US" sz="1400" dirty="0"/>
              <a:t>Create Slack chatting channel, invite all the students into, and then post the input requirements and other reference materials/links into </a:t>
            </a:r>
          </a:p>
          <a:p>
            <a:pPr lvl="1"/>
            <a:r>
              <a:rPr lang="en-US" sz="1400" dirty="0"/>
              <a:t>Create GitLab group and configure the group labels (issue types, detailed statuses), and milestones</a:t>
            </a:r>
          </a:p>
          <a:p>
            <a:pPr lvl="1"/>
            <a:r>
              <a:rPr lang="en-US" sz="1400" dirty="0"/>
              <a:t>Create GitLab repositories and invite team leaders as the maintainer; The team leader is then invite their team members into and configure the repository security settings</a:t>
            </a:r>
          </a:p>
          <a:p>
            <a:pPr lvl="1"/>
            <a:r>
              <a:rPr lang="en-US" sz="1400" dirty="0"/>
              <a:t>Guides the students on: GitLab (source code versioning control and project tasks/issues tracking) + Slack with related communication rules..</a:t>
            </a:r>
          </a:p>
          <a:p>
            <a:pPr lvl="1"/>
            <a:r>
              <a:rPr lang="en-US" sz="1400" dirty="0"/>
              <a:t>Clarify requirement and guide students to complete the submit packages</a:t>
            </a:r>
          </a:p>
          <a:p>
            <a:r>
              <a:rPr lang="en-US" sz="1800" dirty="0"/>
              <a:t>Most of the teacher time during the project iterations is to clarify/confirm requirements and </a:t>
            </a:r>
            <a:r>
              <a:rPr lang="en-US" sz="1800" b="1" i="1" dirty="0"/>
              <a:t>evaluate/feedback </a:t>
            </a:r>
            <a:r>
              <a:rPr lang="en-US" sz="1800" dirty="0"/>
              <a:t>on student work results</a:t>
            </a:r>
          </a:p>
          <a:p>
            <a:pPr marL="0" indent="0">
              <a:buNone/>
            </a:pPr>
            <a:r>
              <a:rPr lang="en-US" sz="1800" b="1" i="1" dirty="0"/>
              <a:t>The student</a:t>
            </a:r>
            <a:r>
              <a:rPr lang="en-US" sz="1800" dirty="0"/>
              <a:t>:</a:t>
            </a:r>
          </a:p>
          <a:p>
            <a:r>
              <a:rPr lang="en-US" sz="1800" dirty="0"/>
              <a:t>For the planned/assigned functions/screens: log &amp; track the tasks/issues, complete detailed documentation, </a:t>
            </a:r>
            <a:r>
              <a:rPr lang="en-US" sz="1800" b="1" i="1" dirty="0"/>
              <a:t>full stack coding.</a:t>
            </a:r>
          </a:p>
          <a:p>
            <a:r>
              <a:rPr lang="en-US" sz="1800" dirty="0"/>
              <a:t>Work together to complete the common code modules, database tables design, common document contents + review and integrate the works with others 	</a:t>
            </a:r>
          </a:p>
          <a:p>
            <a:pPr lvl="1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648656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2C470-A94B-F15E-6A2D-74D2070D0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Milestones &amp; Evaluations</a:t>
            </a:r>
            <a:br>
              <a:rPr lang="en-US" dirty="0"/>
            </a:br>
            <a:r>
              <a:rPr lang="en-US" sz="3100" i="1" dirty="0"/>
              <a:t>Iteration Submit Items</a:t>
            </a:r>
            <a:endParaRPr lang="en-US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5E833-DF4E-084F-05F8-EFFCE3E43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76312"/>
            <a:ext cx="8229600" cy="576505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dirty="0"/>
              <a:t>By the end of each iteration, student teams are requested to submit following outputs</a:t>
            </a:r>
          </a:p>
          <a:p>
            <a:r>
              <a:rPr lang="en-US" sz="2400" b="1" i="1" dirty="0"/>
              <a:t>Project Tracking </a:t>
            </a:r>
            <a:r>
              <a:rPr lang="en-US" sz="2400" dirty="0"/>
              <a:t>document which include</a:t>
            </a:r>
          </a:p>
          <a:p>
            <a:pPr lvl="1"/>
            <a:r>
              <a:rPr lang="en-US" sz="2200" dirty="0"/>
              <a:t>The updated product scopes tracking: sheets “Use Cases” and “Product” (screens)</a:t>
            </a:r>
          </a:p>
          <a:p>
            <a:pPr lvl="1"/>
            <a:r>
              <a:rPr lang="en-US" sz="2200" dirty="0"/>
              <a:t>The status of functions/screens that the team has implemented in the iteration</a:t>
            </a:r>
          </a:p>
          <a:p>
            <a:pPr lvl="1"/>
            <a:r>
              <a:rPr lang="en-US" sz="2200" dirty="0"/>
              <a:t>The planned/assigned functions/screens for the next iteration</a:t>
            </a:r>
          </a:p>
          <a:p>
            <a:pPr lvl="1"/>
            <a:r>
              <a:rPr lang="en-US" sz="2200" u="sng" dirty="0"/>
              <a:t>Notes</a:t>
            </a:r>
            <a:r>
              <a:rPr lang="en-US" sz="2200" dirty="0"/>
              <a:t>: the initial list of product scopes &amp; planned/assigned screens/functions for the iteration 1 (iter1) need to be submitted before the start of the iter1.</a:t>
            </a:r>
          </a:p>
          <a:p>
            <a:pPr algn="just"/>
            <a:r>
              <a:rPr lang="en-US" sz="2800" b="1" i="1" dirty="0"/>
              <a:t>RDS document</a:t>
            </a:r>
            <a:r>
              <a:rPr lang="en-US" sz="2800" dirty="0"/>
              <a:t>: include the detailed requirement and design specifications for the iterations and the updates for the previous iterations (if any).</a:t>
            </a:r>
          </a:p>
          <a:p>
            <a:pPr algn="just"/>
            <a:r>
              <a:rPr lang="en-US" sz="2800" dirty="0"/>
              <a:t>Links to related released materials:</a:t>
            </a:r>
          </a:p>
          <a:p>
            <a:pPr lvl="1" algn="just"/>
            <a:r>
              <a:rPr lang="en-US" sz="2200" dirty="0"/>
              <a:t>Links to each team member’s demonstration videos</a:t>
            </a:r>
          </a:p>
          <a:p>
            <a:pPr lvl="1" algn="just"/>
            <a:r>
              <a:rPr lang="en-US" sz="2200" dirty="0"/>
              <a:t>Links to the tagged iteration’s source codes on the GitLab; the iteration’s DB scripts &amp; other source/config materials if any need to be added to this tagged codes.</a:t>
            </a:r>
          </a:p>
        </p:txBody>
      </p:sp>
    </p:spTree>
    <p:extLst>
      <p:ext uri="{BB962C8B-B14F-4D97-AF65-F5344CB8AC3E}">
        <p14:creationId xmlns:p14="http://schemas.microsoft.com/office/powerpoint/2010/main" val="505131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A7031-7B95-00B2-5AB8-C275F88E4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Iter</a:t>
            </a:r>
            <a:r>
              <a:rPr lang="en-US" dirty="0"/>
              <a:t>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8AAB5-9E77-1A22-3A4C-1DF4C80A4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76313"/>
            <a:ext cx="5050904" cy="540207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1. Requirement Overview (50%)</a:t>
            </a:r>
          </a:p>
          <a:p>
            <a:pPr marL="0" indent="0">
              <a:buNone/>
            </a:pPr>
            <a:r>
              <a:rPr lang="en-US" dirty="0"/>
              <a:t>- Context Diagram</a:t>
            </a:r>
          </a:p>
          <a:p>
            <a:pPr marL="0" indent="0">
              <a:buNone/>
            </a:pPr>
            <a:r>
              <a:rPr lang="en-US" dirty="0"/>
              <a:t>- Main Business Processes (Workflow)</a:t>
            </a:r>
          </a:p>
          <a:p>
            <a:pPr marL="0" indent="0">
              <a:buNone/>
            </a:pPr>
            <a:r>
              <a:rPr lang="en-US" dirty="0"/>
              <a:t>- Use Case Diagrams</a:t>
            </a:r>
          </a:p>
          <a:p>
            <a:pPr marL="0" indent="0">
              <a:buNone/>
            </a:pPr>
            <a:r>
              <a:rPr lang="en-US" dirty="0"/>
              <a:t>- System Functionalities: </a:t>
            </a:r>
          </a:p>
          <a:p>
            <a:pPr marL="0" indent="0">
              <a:buNone/>
            </a:pPr>
            <a:r>
              <a:rPr lang="en-US" dirty="0"/>
              <a:t>  + Screen Flow</a:t>
            </a:r>
          </a:p>
          <a:p>
            <a:pPr marL="0" indent="0">
              <a:buNone/>
            </a:pPr>
            <a:r>
              <a:rPr lang="en-US" dirty="0"/>
              <a:t>  + Screen Authorization</a:t>
            </a:r>
          </a:p>
          <a:p>
            <a:pPr marL="0" indent="0">
              <a:buNone/>
            </a:pPr>
            <a:r>
              <a:rPr lang="en-US" dirty="0"/>
              <a:t>  + Non-UI Functions</a:t>
            </a:r>
          </a:p>
          <a:p>
            <a:pPr marL="0" indent="0">
              <a:buNone/>
            </a:pPr>
            <a:r>
              <a:rPr lang="en-US" dirty="0"/>
              <a:t>- Entity </a:t>
            </a:r>
            <a:r>
              <a:rPr lang="en-US" dirty="0" err="1"/>
              <a:t>Relatioship</a:t>
            </a:r>
            <a:r>
              <a:rPr lang="en-US" dirty="0"/>
              <a:t> Diagram</a:t>
            </a:r>
          </a:p>
          <a:p>
            <a:pPr marL="0" indent="0">
              <a:buNone/>
            </a:pPr>
            <a:r>
              <a:rPr lang="en-US" dirty="0"/>
              <a:t>- Stage Transition Diagrams</a:t>
            </a:r>
          </a:p>
          <a:p>
            <a:pPr marL="0" indent="0">
              <a:buNone/>
            </a:pPr>
            <a:r>
              <a:rPr lang="en-US" dirty="0"/>
              <a:t>2. Functional Requirements</a:t>
            </a:r>
          </a:p>
          <a:p>
            <a:pPr marL="0" indent="0">
              <a:buNone/>
            </a:pPr>
            <a:r>
              <a:rPr lang="en-US" dirty="0"/>
              <a:t>- Screen Mockups</a:t>
            </a:r>
          </a:p>
          <a:p>
            <a:pPr marL="0" indent="0">
              <a:buNone/>
            </a:pPr>
            <a:r>
              <a:rPr lang="en-US" dirty="0"/>
              <a:t>- Screen-UC Mappings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FA45241-0FA3-9749-6A13-CCC94541C32E}"/>
              </a:ext>
            </a:extLst>
          </p:cNvPr>
          <p:cNvCxnSpPr/>
          <p:nvPr/>
        </p:nvCxnSpPr>
        <p:spPr>
          <a:xfrm>
            <a:off x="5508104" y="980728"/>
            <a:ext cx="0" cy="54726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667FFB2-86F3-606E-E165-9C570428480F}"/>
              </a:ext>
            </a:extLst>
          </p:cNvPr>
          <p:cNvSpPr txBox="1">
            <a:spLocks/>
          </p:cNvSpPr>
          <p:nvPr/>
        </p:nvSpPr>
        <p:spPr>
          <a:xfrm>
            <a:off x="5796136" y="1013790"/>
            <a:ext cx="3347861" cy="54020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3200" kern="1200">
                <a:solidFill>
                  <a:srgbClr val="2800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800" kern="1200">
                <a:solidFill>
                  <a:srgbClr val="280099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400" kern="1200">
                <a:solidFill>
                  <a:srgbClr val="280099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000" kern="1200">
                <a:solidFill>
                  <a:srgbClr val="280099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»"/>
              <a:defRPr sz="2000" kern="1200">
                <a:solidFill>
                  <a:srgbClr val="280099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90204" pitchFamily="34" charset="0"/>
              <a:buNone/>
            </a:pPr>
            <a:r>
              <a:rPr lang="en-US" dirty="0"/>
              <a:t>3. Design (30%)</a:t>
            </a:r>
          </a:p>
          <a:p>
            <a:pPr marL="0" indent="0">
              <a:buFont typeface="Arial" panose="020B0604020202090204" pitchFamily="34" charset="0"/>
              <a:buNone/>
            </a:pPr>
            <a:r>
              <a:rPr lang="en-US" dirty="0"/>
              <a:t>4. </a:t>
            </a:r>
            <a:r>
              <a:rPr lang="en-US" dirty="0" err="1"/>
              <a:t>LogAI</a:t>
            </a:r>
            <a:r>
              <a:rPr lang="en-US" dirty="0"/>
              <a:t>, report weekly (20%)</a:t>
            </a:r>
          </a:p>
        </p:txBody>
      </p:sp>
    </p:spTree>
    <p:extLst>
      <p:ext uri="{BB962C8B-B14F-4D97-AF65-F5344CB8AC3E}">
        <p14:creationId xmlns:p14="http://schemas.microsoft.com/office/powerpoint/2010/main" val="1012981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2C470-A94B-F15E-6A2D-74D2070D0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Milestones &amp; Evaluations</a:t>
            </a:r>
            <a:br>
              <a:rPr lang="en-US" dirty="0"/>
            </a:br>
            <a:r>
              <a:rPr lang="en-US" sz="3100" i="1" dirty="0"/>
              <a:t>Evaluation Criteria – </a:t>
            </a:r>
            <a:r>
              <a:rPr lang="en-US" sz="3100" i="1" dirty="0" err="1"/>
              <a:t>iter</a:t>
            </a:r>
            <a:r>
              <a:rPr lang="en-US" sz="3100" i="1" dirty="0"/>
              <a:t> 2 and 3</a:t>
            </a:r>
            <a:endParaRPr lang="en-US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5E833-DF4E-084F-05F8-EFFCE3E43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765056"/>
          </a:xfrm>
        </p:spPr>
        <p:txBody>
          <a:bodyPr>
            <a:normAutofit fontScale="85000" lnSpcReduction="20000"/>
          </a:bodyPr>
          <a:lstStyle/>
          <a:p>
            <a:r>
              <a:rPr lang="en-US" sz="2400" dirty="0"/>
              <a:t>For ongoing assessment, the class teacher would grade the iteration result with below two criteria</a:t>
            </a:r>
          </a:p>
          <a:p>
            <a:pPr lvl="1" algn="just"/>
            <a:r>
              <a:rPr lang="en-US" sz="2000" dirty="0"/>
              <a:t>LOC (Line of Codes): weight 50%, evaluate individually, as sum of converted LOCs for all the functions/screens that each team member has completed in the iteration (with the iteration 3, we evaluate all the completed screens/functions)</a:t>
            </a:r>
          </a:p>
          <a:p>
            <a:pPr marL="914400" lvl="2" indent="0">
              <a:buNone/>
            </a:pPr>
            <a:r>
              <a:rPr lang="en-US" sz="1600" dirty="0"/>
              <a:t>Converted LOC of a function/screen = C * Q, in which </a:t>
            </a:r>
          </a:p>
          <a:p>
            <a:pPr marL="914400" lvl="2" indent="0">
              <a:buNone/>
            </a:pPr>
            <a:endParaRPr lang="en-US" sz="1600" dirty="0"/>
          </a:p>
          <a:p>
            <a:pPr marL="914400" lvl="2" indent="0">
              <a:buNone/>
            </a:pPr>
            <a:r>
              <a:rPr lang="en-US" sz="1600" dirty="0"/>
              <a:t>C is Complexity, graded by the teacher (next slides)</a:t>
            </a:r>
          </a:p>
          <a:p>
            <a:pPr marL="914400" lvl="2" indent="0">
              <a:buNone/>
            </a:pPr>
            <a:endParaRPr lang="en-US" sz="1600" dirty="0"/>
          </a:p>
          <a:p>
            <a:pPr marL="914400" lvl="2" indent="0">
              <a:buNone/>
            </a:pPr>
            <a:r>
              <a:rPr lang="en-US" sz="1600" dirty="0"/>
              <a:t>Q is Quality, graded based on the quality of the screen (completeness, correctness, good UI/UX,..)</a:t>
            </a:r>
          </a:p>
          <a:p>
            <a:pPr lvl="3"/>
            <a:r>
              <a:rPr lang="en-US" sz="1500" dirty="0"/>
              <a:t>High Quality: 100%</a:t>
            </a:r>
          </a:p>
          <a:p>
            <a:pPr lvl="3"/>
            <a:r>
              <a:rPr lang="en-US" sz="1500" dirty="0"/>
              <a:t>Medium Quality: 75%</a:t>
            </a:r>
          </a:p>
          <a:p>
            <a:pPr lvl="3"/>
            <a:r>
              <a:rPr lang="en-US" sz="1500" dirty="0"/>
              <a:t>Low Quality: 50%</a:t>
            </a:r>
          </a:p>
          <a:p>
            <a:pPr marL="914400" lvl="2" indent="0">
              <a:buNone/>
            </a:pPr>
            <a:r>
              <a:rPr lang="en-US" sz="1600" dirty="0"/>
              <a:t>LOC Grade = Converted LOC * 10/</a:t>
            </a:r>
            <a:r>
              <a:rPr lang="en-US" sz="1600" dirty="0" err="1"/>
              <a:t>MaxLOC</a:t>
            </a:r>
            <a:r>
              <a:rPr lang="en-US" sz="1600" dirty="0"/>
              <a:t> (</a:t>
            </a:r>
            <a:r>
              <a:rPr lang="en-US" sz="1600" dirty="0" err="1"/>
              <a:t>MaxLOC</a:t>
            </a:r>
            <a:r>
              <a:rPr lang="en-US" sz="1600" dirty="0"/>
              <a:t> = 330 for iter2, 660 for iter3)</a:t>
            </a:r>
          </a:p>
          <a:p>
            <a:pPr lvl="1"/>
            <a:r>
              <a:rPr lang="en-US" sz="2000" dirty="0"/>
              <a:t>Submitted Package: weight 30%, evaluation for the source code, DB script, and the RDS (Requirement &amp; Design Specification) document.</a:t>
            </a:r>
          </a:p>
          <a:p>
            <a:pPr marL="457200" lvl="1" indent="0">
              <a:buNone/>
            </a:pPr>
            <a:r>
              <a:rPr lang="en-US" sz="2000" dirty="0"/>
              <a:t>- weight 20% for (1. AI Logs: each member &gt;=5 logs for coding &amp; debugging</a:t>
            </a:r>
          </a:p>
          <a:p>
            <a:pPr marL="457200" lvl="1" indent="0">
              <a:buNone/>
            </a:pPr>
            <a:r>
              <a:rPr lang="en-US" sz="2000" dirty="0"/>
              <a:t>	2. Git commits: each members &gt;= 8 code commits</a:t>
            </a:r>
          </a:p>
          <a:p>
            <a:pPr marL="457200" lvl="1" indent="0">
              <a:buNone/>
            </a:pPr>
            <a:r>
              <a:rPr lang="en-US" sz="2000" dirty="0"/>
              <a:t>	3. Weekly Reports: each member &gt;=3 reports)</a:t>
            </a:r>
          </a:p>
          <a:p>
            <a:r>
              <a:rPr lang="en-US" sz="2400" dirty="0"/>
              <a:t>Final presentation: evaluated by 2 teachers (other than the class teacher)</a:t>
            </a:r>
          </a:p>
          <a:p>
            <a:pPr lvl="1"/>
            <a:r>
              <a:rPr lang="en-US" sz="2000" dirty="0"/>
              <a:t>LOC Grade = Converted LOC * 10/660 (all screens/functions)</a:t>
            </a:r>
          </a:p>
          <a:p>
            <a:pPr lvl="1"/>
            <a:r>
              <a:rPr lang="en-US" sz="2000" dirty="0"/>
              <a:t>Submitted software package/documents</a:t>
            </a:r>
          </a:p>
          <a:p>
            <a:pPr lvl="1"/>
            <a:r>
              <a:rPr lang="en-US" sz="2000" dirty="0"/>
              <a:t>Final product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3322571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557CD-33BB-8562-3650-BDEB97CEB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41DE6-BAA8-E18B-C670-A916E13241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6448EF-CBCD-0DFB-12A5-4FD8D94B5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976313"/>
            <a:ext cx="9144000" cy="4808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967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B8FC7-46DB-EBE9-1AEF-4E0586C06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59EB31-0FAF-882F-C217-ECE2837331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519" y="1052736"/>
            <a:ext cx="8797297" cy="1656184"/>
          </a:xfrm>
        </p:spPr>
      </p:pic>
    </p:spTree>
    <p:extLst>
      <p:ext uri="{BB962C8B-B14F-4D97-AF65-F5344CB8AC3E}">
        <p14:creationId xmlns:p14="http://schemas.microsoft.com/office/powerpoint/2010/main" val="3811085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20860-2071-F850-A74B-89CF1949E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8C5FF-BC68-4209-7A38-90C67BC97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46809C-5248-FBF7-5D8F-7C0AB8AAB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822722"/>
            <a:ext cx="9144000" cy="4001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281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5B275-E9B8-45D7-2438-63AA82F04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E14B6-CC20-BCAF-F0E2-1D4F3FC7C4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4A8387-4759-B46A-A8C7-E9D62796D1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748410"/>
            <a:ext cx="6067425" cy="585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0749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E58AC-3D73-2367-F1B6-11701BE7C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21025-BCF7-5C0E-B3CD-456F2173E0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CEFCB9-F606-C6E9-EC3E-D005565C4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76" y="113736"/>
            <a:ext cx="8046665" cy="6630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506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8B4B7-9641-4FF4-8F35-FADD9CB18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Git Guides</a:t>
            </a:r>
            <a:br>
              <a:rPr lang="en-US" dirty="0"/>
            </a:br>
            <a:r>
              <a:rPr lang="en-US" sz="3100" i="1" dirty="0" err="1"/>
              <a:t>Thiết</a:t>
            </a:r>
            <a:r>
              <a:rPr lang="en-US" sz="3100" i="1" dirty="0"/>
              <a:t> </a:t>
            </a:r>
            <a:r>
              <a:rPr lang="en-US" sz="3100" i="1" dirty="0" err="1"/>
              <a:t>lập</a:t>
            </a:r>
            <a:r>
              <a:rPr lang="en-US" sz="3100" i="1" dirty="0"/>
              <a:t> </a:t>
            </a:r>
            <a:r>
              <a:rPr lang="en-US" sz="3100" i="1" dirty="0" err="1"/>
              <a:t>môi</a:t>
            </a:r>
            <a:r>
              <a:rPr lang="en-US" sz="3100" i="1" dirty="0"/>
              <a:t> </a:t>
            </a:r>
            <a:r>
              <a:rPr lang="en-US" sz="3100" i="1" dirty="0" err="1"/>
              <a:t>trường</a:t>
            </a:r>
            <a:endParaRPr lang="en-US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D6B1B-FE4A-4F48-8B0A-489E33431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Team lead invite team members..</a:t>
            </a:r>
          </a:p>
          <a:p>
            <a:r>
              <a:rPr lang="en-US" dirty="0"/>
              <a:t>Google login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khoản</a:t>
            </a:r>
            <a:r>
              <a:rPr lang="en-US" dirty="0"/>
              <a:t> FPT,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khẩu</a:t>
            </a:r>
            <a:r>
              <a:rPr lang="en-US" dirty="0"/>
              <a:t> </a:t>
            </a:r>
            <a:r>
              <a:rPr lang="en-US" dirty="0" err="1"/>
              <a:t>đăng</a:t>
            </a:r>
            <a:r>
              <a:rPr lang="en-US" dirty="0"/>
              <a:t> </a:t>
            </a:r>
            <a:r>
              <a:rPr lang="en-US" dirty="0" err="1"/>
              <a:t>nhập</a:t>
            </a:r>
            <a:endParaRPr lang="en-US" dirty="0"/>
          </a:p>
          <a:p>
            <a:r>
              <a:rPr lang="en-US" dirty="0"/>
              <a:t>Create working folder</a:t>
            </a:r>
          </a:p>
          <a:p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cmd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vừa</a:t>
            </a:r>
            <a:r>
              <a:rPr lang="en-US" dirty="0"/>
              <a:t> </a:t>
            </a:r>
            <a:r>
              <a:rPr lang="en-US" dirty="0" err="1"/>
              <a:t>tạo</a:t>
            </a:r>
            <a:endParaRPr lang="en-US" dirty="0"/>
          </a:p>
          <a:p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local git: git </a:t>
            </a:r>
            <a:r>
              <a:rPr lang="en-US" dirty="0" err="1"/>
              <a:t>init</a:t>
            </a:r>
            <a:endParaRPr lang="en-US" dirty="0"/>
          </a:p>
          <a:p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link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: git remote add origin </a:t>
            </a:r>
            <a:r>
              <a:rPr lang="en-US" dirty="0">
                <a:hlinkClick r:id="rId2"/>
              </a:rPr>
              <a:t>https://gitlab.com/fuhn/kien/java-utils.git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Nhập</a:t>
            </a:r>
            <a:r>
              <a:rPr lang="en-US" dirty="0"/>
              <a:t> email/pass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đăng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(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PopUp</a:t>
            </a:r>
            <a:r>
              <a:rPr lang="en-US" dirty="0"/>
              <a:t>)</a:t>
            </a:r>
          </a:p>
          <a:p>
            <a:r>
              <a:rPr lang="en-US" dirty="0" err="1"/>
              <a:t>Lấy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/codes </a:t>
            </a:r>
            <a:r>
              <a:rPr lang="en-US" dirty="0" err="1"/>
              <a:t>mới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: git pull origin main</a:t>
            </a:r>
          </a:p>
        </p:txBody>
      </p:sp>
    </p:spTree>
    <p:extLst>
      <p:ext uri="{BB962C8B-B14F-4D97-AF65-F5344CB8AC3E}">
        <p14:creationId xmlns:p14="http://schemas.microsoft.com/office/powerpoint/2010/main" val="41187477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8B4B7-9641-4FF4-8F35-FADD9CB18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Git Guides</a:t>
            </a:r>
            <a:br>
              <a:rPr lang="en-US" dirty="0"/>
            </a:br>
            <a:r>
              <a:rPr lang="en-US" sz="3100" i="1" dirty="0" err="1"/>
              <a:t>Cập</a:t>
            </a:r>
            <a:r>
              <a:rPr lang="en-US" sz="3100" i="1" dirty="0"/>
              <a:t> </a:t>
            </a:r>
            <a:r>
              <a:rPr lang="en-US" sz="3100" i="1" dirty="0" err="1"/>
              <a:t>nhật</a:t>
            </a:r>
            <a:r>
              <a:rPr lang="en-US" sz="3100" i="1" dirty="0"/>
              <a:t>, </a:t>
            </a:r>
            <a:r>
              <a:rPr lang="en-US" sz="3100" i="1" dirty="0" err="1"/>
              <a:t>thêm</a:t>
            </a:r>
            <a:r>
              <a:rPr lang="en-US" sz="3100" i="1" dirty="0"/>
              <a:t> </a:t>
            </a:r>
            <a:r>
              <a:rPr lang="en-US" sz="3100" i="1" dirty="0" err="1"/>
              <a:t>mới</a:t>
            </a:r>
            <a:r>
              <a:rPr lang="en-US" sz="3100" i="1" dirty="0"/>
              <a:t>,..</a:t>
            </a:r>
            <a:endParaRPr lang="en-US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D6B1B-FE4A-4F48-8B0A-489E33431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Lấy</a:t>
            </a:r>
            <a:r>
              <a:rPr lang="en-US" dirty="0"/>
              <a:t> codes </a:t>
            </a:r>
            <a:r>
              <a:rPr lang="en-US" dirty="0" err="1"/>
              <a:t>mới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: git pull origin main</a:t>
            </a:r>
          </a:p>
          <a:p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sửa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file codes (NetBeans 13)</a:t>
            </a:r>
          </a:p>
          <a:p>
            <a:r>
              <a:rPr lang="en-US" dirty="0"/>
              <a:t>Check code </a:t>
            </a:r>
            <a:r>
              <a:rPr lang="en-US" dirty="0" err="1"/>
              <a:t>đảm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, </a:t>
            </a:r>
            <a:r>
              <a:rPr lang="en-US" dirty="0" err="1"/>
              <a:t>chạy</a:t>
            </a:r>
            <a:r>
              <a:rPr lang="en-US" dirty="0"/>
              <a:t> ko </a:t>
            </a:r>
            <a:r>
              <a:rPr lang="en-US" dirty="0" err="1"/>
              <a:t>lỗi</a:t>
            </a:r>
            <a:endParaRPr lang="en-US" dirty="0"/>
          </a:p>
          <a:p>
            <a:r>
              <a:rPr lang="en-US" dirty="0" err="1"/>
              <a:t>Gọi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: git add .</a:t>
            </a:r>
          </a:p>
          <a:p>
            <a:r>
              <a:rPr lang="en-US" dirty="0" err="1"/>
              <a:t>Gọi</a:t>
            </a:r>
            <a:r>
              <a:rPr lang="en-US" dirty="0"/>
              <a:t>: git commit –m “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bạn</a:t>
            </a:r>
            <a:r>
              <a:rPr lang="en-US" dirty="0"/>
              <a:t>”</a:t>
            </a:r>
          </a:p>
          <a:p>
            <a:r>
              <a:rPr lang="en-US" dirty="0" err="1"/>
              <a:t>Gọi</a:t>
            </a:r>
            <a:r>
              <a:rPr lang="en-US" dirty="0"/>
              <a:t>: git push --set-upstream origin main</a:t>
            </a:r>
          </a:p>
        </p:txBody>
      </p:sp>
    </p:spTree>
    <p:extLst>
      <p:ext uri="{BB962C8B-B14F-4D97-AF65-F5344CB8AC3E}">
        <p14:creationId xmlns:p14="http://schemas.microsoft.com/office/powerpoint/2010/main" val="33682061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dirty="0"/>
              <a:t>Git Guides</a:t>
            </a:r>
            <a:br>
              <a:rPr lang="en-US" sz="3200" dirty="0"/>
            </a:br>
            <a:r>
              <a:rPr lang="en-US" sz="3200" i="1" dirty="0" err="1"/>
              <a:t>Xử</a:t>
            </a:r>
            <a:r>
              <a:rPr lang="en-US" sz="3200" i="1" dirty="0"/>
              <a:t> </a:t>
            </a:r>
            <a:r>
              <a:rPr lang="en-US" sz="3200" i="1" dirty="0" err="1"/>
              <a:t>lý</a:t>
            </a:r>
            <a:r>
              <a:rPr lang="en-US" sz="3200" i="1" dirty="0"/>
              <a:t> </a:t>
            </a:r>
            <a:r>
              <a:rPr lang="en-US" sz="3200" i="1" dirty="0" err="1"/>
              <a:t>xung</a:t>
            </a:r>
            <a:r>
              <a:rPr lang="en-US" sz="3200" i="1" dirty="0"/>
              <a:t> </a:t>
            </a:r>
            <a:r>
              <a:rPr lang="en-US" sz="3200" i="1" dirty="0" err="1"/>
              <a:t>đột</a:t>
            </a:r>
            <a:r>
              <a:rPr lang="en-US" sz="3200" i="1" dirty="0"/>
              <a:t> 1/2</a:t>
            </a:r>
            <a:endParaRPr lang="en-US" sz="2800" i="1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532130" y="908720"/>
            <a:ext cx="7983220" cy="751205"/>
          </a:xfrm>
        </p:spPr>
        <p:txBody>
          <a:bodyPr>
            <a:normAutofit fontScale="97500" lnSpcReduction="10000"/>
          </a:bodyPr>
          <a:lstStyle/>
          <a:p>
            <a:pPr marL="0" indent="0" fontAlgn="auto">
              <a:lnSpc>
                <a:spcPct val="120000"/>
              </a:lnSpc>
              <a:buNone/>
            </a:pPr>
            <a:r>
              <a:rPr lang="en-US" sz="2000" dirty="0"/>
              <a:t>Change </a:t>
            </a:r>
            <a:r>
              <a:rPr lang="en-US" sz="2000" dirty="0" err="1"/>
              <a:t>conflics</a:t>
            </a:r>
            <a:r>
              <a:rPr lang="en-US" sz="2000" dirty="0"/>
              <a:t> </a:t>
            </a:r>
            <a:r>
              <a:rPr lang="en-US" sz="2000" dirty="0" err="1"/>
              <a:t>occured</a:t>
            </a:r>
            <a:r>
              <a:rPr lang="en-US" sz="2000" dirty="0"/>
              <a:t> when two developers (</a:t>
            </a:r>
            <a:r>
              <a:rPr lang="en-US" sz="2000" dirty="0" err="1"/>
              <a:t>Trung</a:t>
            </a:r>
            <a:r>
              <a:rPr lang="en-US" sz="2000" dirty="0"/>
              <a:t>, Kien) changed the same based file(s) and push at the different point of time..</a:t>
            </a:r>
            <a:endParaRPr lang="en-US" sz="2000" dirty="0">
              <a:highlight>
                <a:srgbClr val="FFFF00"/>
              </a:highlight>
            </a:endParaRPr>
          </a:p>
        </p:txBody>
      </p:sp>
      <p:pic>
        <p:nvPicPr>
          <p:cNvPr id="48" name="Picture 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4946685"/>
            <a:ext cx="4532630" cy="151384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9" name="Picture 4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3378235"/>
            <a:ext cx="3606800" cy="11842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333" y="2281590"/>
            <a:ext cx="2811145" cy="67437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0" name="Right Arrow 9"/>
          <p:cNvSpPr/>
          <p:nvPr/>
        </p:nvSpPr>
        <p:spPr>
          <a:xfrm rot="16200000">
            <a:off x="1430020" y="4609500"/>
            <a:ext cx="315595" cy="27813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5"/>
          <p:cNvSpPr>
            <a:spLocks noGrp="1"/>
          </p:cNvSpPr>
          <p:nvPr/>
        </p:nvSpPr>
        <p:spPr>
          <a:xfrm>
            <a:off x="1726565" y="4683795"/>
            <a:ext cx="2303780" cy="2622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20000"/>
              </a:lnSpc>
              <a:buNone/>
            </a:pPr>
            <a:r>
              <a:rPr lang="en-US" sz="1035">
                <a:highlight>
                  <a:srgbClr val="FFFF00"/>
                </a:highlight>
              </a:rPr>
              <a:t>Failed to push</a:t>
            </a:r>
          </a:p>
        </p:txBody>
      </p:sp>
      <p:sp>
        <p:nvSpPr>
          <p:cNvPr id="11" name="Right Arrow 10"/>
          <p:cNvSpPr/>
          <p:nvPr/>
        </p:nvSpPr>
        <p:spPr>
          <a:xfrm rot="16200000">
            <a:off x="1437005" y="3023270"/>
            <a:ext cx="301625" cy="27813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5"/>
          <p:cNvSpPr>
            <a:spLocks noGrp="1"/>
          </p:cNvSpPr>
          <p:nvPr/>
        </p:nvSpPr>
        <p:spPr>
          <a:xfrm>
            <a:off x="1726565" y="3115980"/>
            <a:ext cx="2508885" cy="25019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20000"/>
              </a:lnSpc>
              <a:buNone/>
            </a:pPr>
            <a:r>
              <a:rPr lang="en-US" sz="1035">
                <a:highlight>
                  <a:srgbClr val="FFFF00"/>
                </a:highlight>
              </a:rPr>
              <a:t>After pull lastest codes from Remote</a:t>
            </a:r>
          </a:p>
        </p:txBody>
      </p:sp>
      <p:sp>
        <p:nvSpPr>
          <p:cNvPr id="13" name="Content Placeholder 5"/>
          <p:cNvSpPr>
            <a:spLocks noGrp="1"/>
          </p:cNvSpPr>
          <p:nvPr/>
        </p:nvSpPr>
        <p:spPr>
          <a:xfrm>
            <a:off x="628650" y="1588805"/>
            <a:ext cx="2810510" cy="65278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20000"/>
              </a:lnSpc>
              <a:buNone/>
            </a:pPr>
            <a:r>
              <a:rPr lang="en-US" sz="1035">
                <a:highlight>
                  <a:srgbClr val="FFFF00"/>
                </a:highlight>
              </a:rPr>
              <a:t>The changes from 2 developers are merged into file like this. Next steps is to change the content -&gt; add -&gt; commit -&gt; push...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30345" y="1570390"/>
            <a:ext cx="4817110" cy="485267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8" grpId="0"/>
      <p:bldP spid="11" grpId="0" animBg="1"/>
      <p:bldP spid="12" grpId="0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8B4B7-9641-4FF4-8F35-FADD9CB18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Git Guides</a:t>
            </a:r>
            <a:br>
              <a:rPr lang="en-US" dirty="0"/>
            </a:br>
            <a:r>
              <a:rPr lang="en-US" sz="3100" i="1" dirty="0" err="1"/>
              <a:t>Xử</a:t>
            </a:r>
            <a:r>
              <a:rPr lang="en-US" sz="3100" i="1" dirty="0"/>
              <a:t> </a:t>
            </a:r>
            <a:r>
              <a:rPr lang="en-US" sz="3100" i="1" dirty="0" err="1"/>
              <a:t>lý</a:t>
            </a:r>
            <a:r>
              <a:rPr lang="en-US" sz="3100" i="1" dirty="0"/>
              <a:t> </a:t>
            </a:r>
            <a:r>
              <a:rPr lang="en-US" sz="3100" i="1" dirty="0" err="1"/>
              <a:t>xung</a:t>
            </a:r>
            <a:r>
              <a:rPr lang="en-US" sz="3100" i="1" dirty="0"/>
              <a:t> </a:t>
            </a:r>
            <a:r>
              <a:rPr lang="en-US" sz="3100" i="1" dirty="0" err="1"/>
              <a:t>đột</a:t>
            </a:r>
            <a:r>
              <a:rPr lang="en-US" sz="3100" i="1" dirty="0"/>
              <a:t> 2/2</a:t>
            </a:r>
            <a:endParaRPr lang="en-US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D6B1B-FE4A-4F48-8B0A-489E33431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Sau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gọi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push ở slide </a:t>
            </a:r>
            <a:r>
              <a:rPr lang="en-US" dirty="0" err="1"/>
              <a:t>trước</a:t>
            </a:r>
            <a:r>
              <a:rPr lang="en-US" dirty="0"/>
              <a:t> </a:t>
            </a:r>
            <a:r>
              <a:rPr lang="en-US" dirty="0" err="1"/>
              <a:t>gặp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xung</a:t>
            </a:r>
            <a:r>
              <a:rPr lang="en-US" dirty="0"/>
              <a:t> </a:t>
            </a:r>
            <a:r>
              <a:rPr lang="en-US" dirty="0" err="1"/>
              <a:t>đột</a:t>
            </a:r>
            <a:r>
              <a:rPr lang="en-US" dirty="0"/>
              <a:t> code</a:t>
            </a:r>
          </a:p>
          <a:p>
            <a:r>
              <a:rPr lang="en-US" dirty="0"/>
              <a:t>git pull origin main</a:t>
            </a:r>
          </a:p>
          <a:p>
            <a:r>
              <a:rPr lang="en-US" dirty="0" err="1"/>
              <a:t>Sửa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file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xung</a:t>
            </a:r>
            <a:r>
              <a:rPr lang="en-US" dirty="0"/>
              <a:t> </a:t>
            </a:r>
            <a:r>
              <a:rPr lang="en-US" dirty="0" err="1"/>
              <a:t>đột</a:t>
            </a:r>
            <a:r>
              <a:rPr lang="en-US" dirty="0"/>
              <a:t> (merge </a:t>
            </a:r>
            <a:r>
              <a:rPr lang="en-US" dirty="0" err="1"/>
              <a:t>thủ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)</a:t>
            </a:r>
          </a:p>
          <a:p>
            <a:r>
              <a:rPr lang="en-US" dirty="0"/>
              <a:t>git add .</a:t>
            </a:r>
          </a:p>
          <a:p>
            <a:r>
              <a:rPr lang="en-US" dirty="0"/>
              <a:t>git commit –m “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…”</a:t>
            </a:r>
          </a:p>
          <a:p>
            <a:r>
              <a:rPr lang="en-US" dirty="0"/>
              <a:t>git push origin main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9734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3200" dirty="0">
                <a:ea typeface="MS PGothic" panose="020B0600070205080204" pitchFamily="34" charset="-128"/>
                <a:sym typeface="+mn-ea"/>
              </a:rPr>
              <a:t>Tracking &amp; Monitoring</a:t>
            </a:r>
            <a:br>
              <a:rPr lang="en-US" altLang="en-US" sz="3200" dirty="0">
                <a:ea typeface="MS PGothic" panose="020B0600070205080204" pitchFamily="34" charset="-128"/>
                <a:sym typeface="+mn-ea"/>
              </a:rPr>
            </a:br>
            <a:r>
              <a:rPr lang="en-US" altLang="en-US" sz="2800" i="1" dirty="0">
                <a:ea typeface="MS PGothic" panose="020B0600070205080204" pitchFamily="34" charset="-128"/>
                <a:sym typeface="+mn-ea"/>
              </a:rPr>
              <a:t>Project milestones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16D224-0D36-40F9-AE8B-D36658AEB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980728"/>
            <a:ext cx="8186093" cy="311033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3200" dirty="0">
                <a:ea typeface="MS PGothic" panose="020B0600070205080204" pitchFamily="34" charset="-128"/>
                <a:sym typeface="+mn-ea"/>
              </a:rPr>
              <a:t>Tracking &amp; Monitoring</a:t>
            </a:r>
            <a:br>
              <a:rPr lang="en-US" altLang="en-US" sz="3200" dirty="0">
                <a:ea typeface="MS PGothic" panose="020B0600070205080204" pitchFamily="34" charset="-128"/>
                <a:sym typeface="+mn-ea"/>
              </a:rPr>
            </a:br>
            <a:r>
              <a:rPr lang="en-US" altLang="en-US" sz="2800" i="1" dirty="0">
                <a:ea typeface="MS PGothic" panose="020B0600070205080204" pitchFamily="34" charset="-128"/>
                <a:sym typeface="+mn-ea"/>
              </a:rPr>
              <a:t>Track issue type/status with labels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870BCD-1600-4F2E-8113-3AB3A44D7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844" y="908720"/>
            <a:ext cx="8064897" cy="558239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3200" dirty="0">
                <a:ea typeface="MS PGothic" panose="020B0600070205080204" pitchFamily="34" charset="-128"/>
                <a:sym typeface="+mn-ea"/>
              </a:rPr>
              <a:t>Tracking &amp; Monitoring</a:t>
            </a:r>
            <a:br>
              <a:rPr lang="en-US" altLang="en-US" sz="3200" dirty="0">
                <a:ea typeface="MS PGothic" panose="020B0600070205080204" pitchFamily="34" charset="-128"/>
                <a:sym typeface="+mn-ea"/>
              </a:rPr>
            </a:br>
            <a:r>
              <a:rPr lang="en-US" altLang="en-US" sz="2800" i="1" dirty="0">
                <a:ea typeface="MS PGothic" panose="020B0600070205080204" pitchFamily="34" charset="-128"/>
                <a:sym typeface="+mn-ea"/>
              </a:rPr>
              <a:t>Manage project issues 1/4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7050" y="836712"/>
            <a:ext cx="8141335" cy="56965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New Req </a:t>
            </a:r>
            <a:r>
              <a:rPr lang="en-US" sz="2400" dirty="0"/>
              <a:t>(Issues/List/New Issue)</a:t>
            </a:r>
            <a:endParaRPr lang="en-US" sz="233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8F34FA-4757-43F1-A7DD-ED04CB83F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89" y="1203725"/>
            <a:ext cx="7704856" cy="532957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3200" dirty="0">
                <a:ea typeface="MS PGothic" panose="020B0600070205080204" pitchFamily="34" charset="-128"/>
                <a:sym typeface="+mn-ea"/>
              </a:rPr>
              <a:t>Tracking &amp; Monitoring</a:t>
            </a:r>
            <a:br>
              <a:rPr lang="en-US" altLang="en-US" sz="3200" dirty="0">
                <a:ea typeface="MS PGothic" panose="020B0600070205080204" pitchFamily="34" charset="-128"/>
                <a:sym typeface="+mn-ea"/>
              </a:rPr>
            </a:br>
            <a:r>
              <a:rPr lang="en-US" altLang="en-US" sz="2800" i="1" dirty="0">
                <a:ea typeface="MS PGothic" panose="020B0600070205080204" pitchFamily="34" charset="-128"/>
                <a:sym typeface="+mn-ea"/>
              </a:rPr>
              <a:t>Manage project issues 2/4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7050" y="1140460"/>
            <a:ext cx="8141335" cy="56965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/>
              <a:t>Issues List </a:t>
            </a:r>
            <a:r>
              <a:rPr lang="en-US" sz="2400"/>
              <a:t>(Issues/List)</a:t>
            </a:r>
          </a:p>
          <a:p>
            <a:pPr marL="0" indent="0">
              <a:buNone/>
            </a:pPr>
            <a:r>
              <a:rPr lang="en-US" sz="2330"/>
              <a:t>From this page, user canimport issues, search/filter then export issues or select issue(s) for multiple editing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446655"/>
            <a:ext cx="8039735" cy="21640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3200" dirty="0">
                <a:ea typeface="MS PGothic" panose="020B0600070205080204" pitchFamily="34" charset="-128"/>
                <a:sym typeface="+mn-ea"/>
              </a:rPr>
              <a:t>Tracking &amp; Monitoring</a:t>
            </a:r>
            <a:br>
              <a:rPr lang="en-US" altLang="en-US" sz="3200" dirty="0">
                <a:ea typeface="MS PGothic" panose="020B0600070205080204" pitchFamily="34" charset="-128"/>
                <a:sym typeface="+mn-ea"/>
              </a:rPr>
            </a:br>
            <a:r>
              <a:rPr lang="en-US" altLang="en-US" sz="2800" i="1" dirty="0">
                <a:ea typeface="MS PGothic" panose="020B0600070205080204" pitchFamily="34" charset="-128"/>
                <a:sym typeface="+mn-ea"/>
              </a:rPr>
              <a:t>Manage project issues 3/4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1650" y="1153795"/>
            <a:ext cx="8141335" cy="56965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/>
              <a:t>Issues Board</a:t>
            </a:r>
            <a:r>
              <a:rPr lang="en-US" sz="2400"/>
              <a:t> (Issues/Board)</a:t>
            </a:r>
          </a:p>
          <a:p>
            <a:pPr marL="0" indent="0">
              <a:buNone/>
            </a:pPr>
            <a:r>
              <a:rPr lang="en-US" sz="2400"/>
              <a:t>Project team to track issues for their project team mapped with relevant issue type &amp; status (Board view)</a:t>
            </a:r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r>
              <a:rPr lang="en-US" sz="2400"/>
              <a:t>From this page, the project member can:</a:t>
            </a:r>
            <a:endParaRPr lang="en-US" sz="2000"/>
          </a:p>
          <a:p>
            <a:pPr lvl="1">
              <a:buFont typeface="Wingdings" panose="05000000000000000000" charset="0"/>
              <a:buChar char=""/>
            </a:pPr>
            <a:r>
              <a:rPr lang="en-US" sz="2000"/>
              <a:t>Filter the issues by Assignee, Label, Milestone,..</a:t>
            </a:r>
          </a:p>
          <a:p>
            <a:pPr lvl="1">
              <a:buFont typeface="Wingdings" panose="05000000000000000000" charset="0"/>
              <a:buChar char=""/>
            </a:pPr>
            <a:r>
              <a:rPr lang="en-US" sz="2000">
                <a:sym typeface="+mn-ea"/>
              </a:rPr>
              <a:t>Quickly create new issue at a specific status</a:t>
            </a:r>
            <a:r>
              <a:rPr lang="en-US" sz="2000"/>
              <a:t> (issue list)</a:t>
            </a:r>
          </a:p>
          <a:p>
            <a:pPr lvl="1">
              <a:buFont typeface="Wingdings" panose="05000000000000000000" charset="0"/>
              <a:buChar char=""/>
            </a:pPr>
            <a:r>
              <a:rPr lang="en-US" sz="2000"/>
              <a:t>Drag &amp; drop issues to change the status &amp; priority of the issue</a:t>
            </a:r>
          </a:p>
          <a:p>
            <a:pPr marL="0" lvl="0" indent="0">
              <a:buFont typeface="Wingdings" panose="05000000000000000000" charset="0"/>
              <a:buNone/>
            </a:pPr>
            <a:endParaRPr lang="en-US" sz="233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700" y="2397760"/>
            <a:ext cx="7794625" cy="260921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3200" dirty="0">
                <a:ea typeface="MS PGothic" panose="020B0600070205080204" pitchFamily="34" charset="-128"/>
                <a:sym typeface="+mn-ea"/>
              </a:rPr>
              <a:t>Tracking &amp; Monitoring</a:t>
            </a:r>
            <a:br>
              <a:rPr lang="en-US" altLang="en-US" sz="3200" dirty="0">
                <a:ea typeface="MS PGothic" panose="020B0600070205080204" pitchFamily="34" charset="-128"/>
                <a:sym typeface="+mn-ea"/>
              </a:rPr>
            </a:br>
            <a:r>
              <a:rPr lang="en-US" altLang="en-US" sz="2800" i="1" dirty="0">
                <a:ea typeface="MS PGothic" panose="020B0600070205080204" pitchFamily="34" charset="-128"/>
                <a:sym typeface="+mn-ea"/>
              </a:rPr>
              <a:t>Manage project issues 4/4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1650" y="1104900"/>
            <a:ext cx="8141335" cy="56965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/>
              <a:t>Issue Details </a:t>
            </a:r>
            <a:r>
              <a:rPr lang="en-US" sz="1800"/>
              <a:t>(Issues/List/Issue Details)</a:t>
            </a:r>
          </a:p>
          <a:p>
            <a:pPr marL="0" indent="0">
              <a:buNone/>
            </a:pPr>
            <a:r>
              <a:rPr lang="en-US" sz="1800"/>
              <a:t>View details of a specific issue, from that to view change history/comments, link issues, quickly edit issue attributes &amp; give the comments..</a:t>
            </a:r>
          </a:p>
          <a:p>
            <a:pPr marL="0" lvl="0" indent="0">
              <a:buFont typeface="Wingdings" panose="05000000000000000000" charset="0"/>
              <a:buNone/>
            </a:pPr>
            <a:endParaRPr lang="en-US" sz="180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" y="2191385"/>
            <a:ext cx="8096885" cy="40462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3200" dirty="0">
                <a:ea typeface="MS PGothic" panose="020B0600070205080204" pitchFamily="34" charset="-128"/>
                <a:sym typeface="+mn-ea"/>
              </a:rPr>
              <a:t>Tracking &amp; Monitoring</a:t>
            </a:r>
            <a:br>
              <a:rPr lang="en-US" altLang="en-US" sz="3200" dirty="0">
                <a:ea typeface="MS PGothic" panose="020B0600070205080204" pitchFamily="34" charset="-128"/>
                <a:sym typeface="+mn-ea"/>
              </a:rPr>
            </a:br>
            <a:r>
              <a:rPr lang="en-US" altLang="en-US" sz="2800" i="1" dirty="0">
                <a:ea typeface="MS PGothic" panose="020B0600070205080204" pitchFamily="34" charset="-128"/>
                <a:sym typeface="+mn-ea"/>
              </a:rPr>
              <a:t>Manage git tags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1650" y="908720"/>
            <a:ext cx="8141335" cy="56965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New Tag </a:t>
            </a:r>
            <a:r>
              <a:rPr lang="en-US" sz="1800" dirty="0"/>
              <a:t>(Project Information/Repository/Tags)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1800" dirty="0"/>
              <a:t>On viewing details of a tag, you can:</a:t>
            </a:r>
          </a:p>
          <a:p>
            <a:pPr>
              <a:buFont typeface="Wingdings" panose="05000000000000000000" charset="0"/>
              <a:buChar char=""/>
            </a:pPr>
            <a:r>
              <a:rPr lang="en-US" sz="1600" dirty="0"/>
              <a:t>Copy tag URL from address bar </a:t>
            </a:r>
            <a:r>
              <a:rPr lang="en-US" sz="1600" dirty="0">
                <a:sym typeface="+mn-ea"/>
              </a:rPr>
              <a:t>for sharing</a:t>
            </a:r>
          </a:p>
          <a:p>
            <a:pPr>
              <a:buFont typeface="Wingdings" panose="05000000000000000000" charset="0"/>
              <a:buChar char=""/>
            </a:pPr>
            <a:r>
              <a:rPr lang="en-US" sz="1600" dirty="0">
                <a:sym typeface="+mn-ea"/>
              </a:rPr>
              <a:t>Attach files or change attached files for the tag</a:t>
            </a:r>
            <a:endParaRPr lang="en-US" sz="1800" dirty="0">
              <a:sym typeface="+mn-ea"/>
            </a:endParaRPr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374175"/>
            <a:ext cx="7779385" cy="371729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mage result for Q&amp;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1340768"/>
            <a:ext cx="5107285" cy="3296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ession 02_Integration Managemen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Session 01.2_Tong quan ve Du an &amp; QLDA</Template>
  <TotalTime>625</TotalTime>
  <Words>1929</Words>
  <Application>Microsoft Office PowerPoint</Application>
  <PresentationFormat>On-screen Show (4:3)</PresentationFormat>
  <Paragraphs>202</Paragraphs>
  <Slides>25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Wingdings</vt:lpstr>
      <vt:lpstr>Session 02_Integration Management</vt:lpstr>
      <vt:lpstr>Software Development Project (SWP391)</vt:lpstr>
      <vt:lpstr>Subject Overview</vt:lpstr>
      <vt:lpstr>Inputs &amp; Requirements</vt:lpstr>
      <vt:lpstr>Milestones &amp; Evaluations</vt:lpstr>
      <vt:lpstr>Milestones &amp; Evaluations Main student &amp; teacher tasks</vt:lpstr>
      <vt:lpstr>Milestones &amp; Evaluations Iteration Submit Items</vt:lpstr>
      <vt:lpstr>Iter 1</vt:lpstr>
      <vt:lpstr>Milestones &amp; Evaluations Evaluation Criteria – iter 2 and 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Git Guides Thiết lập môi trường</vt:lpstr>
      <vt:lpstr>Git Guides Cập nhật, thêm mới,..</vt:lpstr>
      <vt:lpstr>Git Guides Xử lý xung đột 1/2</vt:lpstr>
      <vt:lpstr>Git Guides Xử lý xung đột 2/2</vt:lpstr>
      <vt:lpstr>Tracking &amp; Monitoring Project milestones</vt:lpstr>
      <vt:lpstr>Tracking &amp; Monitoring Track issue type/status with labels</vt:lpstr>
      <vt:lpstr>Tracking &amp; Monitoring Manage project issues 1/4</vt:lpstr>
      <vt:lpstr>Tracking &amp; Monitoring Manage project issues 2/4</vt:lpstr>
      <vt:lpstr>Tracking &amp; Monitoring Manage project issues 3/4</vt:lpstr>
      <vt:lpstr>Tracking &amp; Monitoring Manage project issues 4/4</vt:lpstr>
      <vt:lpstr>Tracking &amp; Monitoring Manage git tags</vt:lpstr>
      <vt:lpstr>PowerPoint Presentation</vt:lpstr>
    </vt:vector>
  </TitlesOfParts>
  <Company>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KHÓA HỌC QUẢN LÝ DỰ ÁN PMP</dc:title>
  <dc:creator>iNET</dc:creator>
  <cp:lastModifiedBy>Nang Nguyen Thi Hai</cp:lastModifiedBy>
  <cp:revision>545</cp:revision>
  <cp:lastPrinted>2022-06-06T22:34:51Z</cp:lastPrinted>
  <dcterms:created xsi:type="dcterms:W3CDTF">2022-06-06T22:34:51Z</dcterms:created>
  <dcterms:modified xsi:type="dcterms:W3CDTF">2026-01-05T18:03:58Z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1033-3.2.0.6442</vt:lpwstr>
  </property>
</Properties>
</file>